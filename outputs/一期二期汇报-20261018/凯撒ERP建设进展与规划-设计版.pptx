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d3dd541356481a" /><Relationship Type="http://schemas.openxmlformats.org/officeDocument/2006/relationships/extended-properties" Target="/docProps/app.xml" Id="Rfa2f393505e84112" /><Relationship Type="http://schemas.openxmlformats.org/officeDocument/2006/relationships/officeDocument" Target="/ppt/presentation.xml" Id="Raa9bc78a207540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3498ddaf7b49b2"/>
  </p:sldMasterIdLst>
  <p:notesMasterIdLst>
    <p:notesMasterId xmlns:r="http://schemas.openxmlformats.org/officeDocument/2006/relationships" r:id="R03397e7a3d224c82"/>
  </p:notesMasterIdLst>
  <p:sldIdLst>
    <p:sldId xmlns:r="http://schemas.openxmlformats.org/officeDocument/2006/relationships" id="256" r:id="R740ce166e8b04b4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4054af1db64570" /><Relationship Type="http://schemas.openxmlformats.org/officeDocument/2006/relationships/slideMaster" Target="/ppt/slideMasters/slideMaster1.xml" Id="R3b3498ddaf7b49b2" /><Relationship Type="http://schemas.openxmlformats.org/officeDocument/2006/relationships/notesMaster" Target="/ppt/notesMasters/notesMaster1.xml" Id="R03397e7a3d224c82" /><Relationship Type="http://schemas.openxmlformats.org/officeDocument/2006/relationships/presProps" Target="/ppt/presProps.xml" Id="Rd02ae7a134694508" /><Relationship Type="http://schemas.openxmlformats.org/officeDocument/2006/relationships/tableStyles" Target="/ppt/tableStyles.xml" Id="Rc61fb70242514870" /><Relationship Type="http://schemas.openxmlformats.org/officeDocument/2006/relationships/slide" Target="/ppt/slides/slide1.xml" Id="R740ce166e8b04b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aa774187fa47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7bff772cf84fe8" /><Relationship Type="http://schemas.openxmlformats.org/officeDocument/2006/relationships/notesMaster" Target="/ppt/notesMasters/notesMaster1.xml" Id="Rc24cd1b1ddd648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数据来源：/Users/qiu/Downloads/开发进度表 (3).xlsx，六张子表。</a:t>
            </a:r>
          </a:p>
          <a:p xmlns:a="http://schemas.openxmlformats.org/drawingml/2006/main">
            <a:r>
              <a:t>一期为业务端、供应商端、集团端三表，功能项非空的实质条目数分别为86、49、31，总计166项。按进度列等于1统计完成数67、49、26，总计142项。未完成24项，其中10项进度为50%至90%，14项为0%。业务端第65、66、86、87、88行注明二期开发，仍包含在原表一期166项分母中。</a:t>
            </a:r>
          </a:p>
          <a:p xmlns:a="http://schemas.openxmlformats.org/drawingml/2006/main">
            <a:r>
              <a:t>一期范围：业务端C3:L88、供应商端C3:L51、集团端C3:L33。集团端第24行为未编号的审批配置，已计入。</a:t>
            </a:r>
          </a:p>
          <a:p xmlns:a="http://schemas.openxmlformats.org/drawingml/2006/main">
            <a:r>
              <a:t>二期为业务端（二期）C2:K100、渠道端（二期）C2:K40、集团端（二期）C2:K36，分别99、39、35项，总计173项，进度均为0。二期内容按业务领域归并展示，不以功能项数作为工作量权重。</a:t>
            </a:r>
          </a:p>
          <a:p xmlns:a="http://schemas.openxmlformats.org/drawingml/2006/main">
            <a:r>
              <a:t>已完成内容按表内登记状态归纳，供应商端个别描述仍保留待确认事项，联调和验收状态栏均未填写，不能据此认定已经正式验收。</a:t>
            </a:r>
          </a:p>
          <a:p xmlns:a="http://schemas.openxmlformats.org/drawingml/2006/main">
            <a:r>
              <a:t>NC指集团财务核算系统。在线旅游平台包括OTA与分销渠道。</a:t>
            </a:r>
          </a:p>
          <a:p xmlns:a="http://schemas.openxmlformats.org/drawingml/2006/main">
            <a:r>
              <a:t>视觉参考：用户提供的蓝白报告模板截图 codex-clipboard-fb540059-eeaa-4153-81f3-c9d75cec77ec.png。背景角部图案通过内置图像生成工具生成，正文与数字均为可编辑文字。</a:t>
            </a:r>
          </a:p>
          <a:p xmlns:a="http://schemas.openxmlformats.org/drawingml/2006/main">
            <a:r>
              <a:t>一期各端完成数分别为业务端67/86、供应商端49/49、集团端26/31。精简页面只展示合计与核心范围，详细数据口径如上。</a:t>
            </a:r>
          </a:p>
          <a:p xmlns:a="http://schemas.openxmlformats.org/drawingml/2006/main">
            <a:r>
              <a:t>背景提示词摘要：16:9纯白背景，左上和右下钴蓝色折叠角部装饰，右侧极淡蓝色曲面，无文字、图表、徽标、内容框。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8adc0938a4d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d925caa5e4d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3aff4052448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cfd09626a41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99a93413244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a740e59ea245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37834F-A500-42B6-B503-847BCB700A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536455-B990-4573-9505-0B24A70D48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880DEE-3B98-4061-81F5-0BC574BB6C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E773FD-3BD2-4969-8FD8-290A501554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036699-CCFC-4A44-BB6B-20B7347B07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D5E61E-2C12-433A-B5A3-9E1906D3D4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24620C-DD7E-49AA-81E4-92669D6168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854C12-7F5E-4D50-8B5A-BFA1ED56D5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79C995-DFC7-4426-BDAC-3ED9F8E6EA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87E39F-130A-4A62-B95E-D1CCA86203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36e84106244a46" /><Relationship Type="http://schemas.openxmlformats.org/officeDocument/2006/relationships/slideLayout" Target="/ppt/slideLayouts/slideLayout1.xml" Id="Rd6419834b6564c3c" /><Relationship Type="http://schemas.openxmlformats.org/officeDocument/2006/relationships/slideLayout" Target="/ppt/slideLayouts/slideLayout2.xml" Id="R029204b67bdb468c" /><Relationship Type="http://schemas.openxmlformats.org/officeDocument/2006/relationships/slideLayout" Target="/ppt/slideLayouts/slideLayout3.xml" Id="R30bd781ef7cf4b86" /><Relationship Type="http://schemas.openxmlformats.org/officeDocument/2006/relationships/slideLayout" Target="/ppt/slideLayouts/slideLayout4.xml" Id="R05817e8ee2db457e" /><Relationship Type="http://schemas.openxmlformats.org/officeDocument/2006/relationships/slideLayout" Target="/ppt/slideLayouts/slideLayout5.xml" Id="Rf5163dc790d340e8" /><Relationship Type="http://schemas.openxmlformats.org/officeDocument/2006/relationships/slideLayout" Target="/ppt/slideLayouts/slideLayout6.xml" Id="R053151b7f7d441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419834b6564c3c"/>
    <p:sldLayoutId xmlns:r="http://schemas.openxmlformats.org/officeDocument/2006/relationships" id="2147483650" r:id="R029204b67bdb468c"/>
    <p:sldLayoutId xmlns:r="http://schemas.openxmlformats.org/officeDocument/2006/relationships" id="2147483651" r:id="R30bd781ef7cf4b86"/>
    <p:sldLayoutId xmlns:r="http://schemas.openxmlformats.org/officeDocument/2006/relationships" id="2147483652" r:id="R05817e8ee2db457e"/>
    <p:sldLayoutId xmlns:r="http://schemas.openxmlformats.org/officeDocument/2006/relationships" id="2147483653" r:id="Rf5163dc790d340e8"/>
    <p:sldLayoutId xmlns:r="http://schemas.openxmlformats.org/officeDocument/2006/relationships" id="2147483654" r:id="R053151b7f7d441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9aec2a0bb04b6f" /><Relationship Type="http://schemas.openxmlformats.org/officeDocument/2006/relationships/image" Target="/ppt/media/image.png" Id="R3255c3ed8268402f" /><Relationship Type="http://schemas.openxmlformats.org/officeDocument/2006/relationships/notesSlide" Target="/ppt/notesSlides/notesSlide1.xml" Id="R3b2f5f7004704a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6262FD-F28D-4508-A87D-0A154DD44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5c3ed8268402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30A722-A831-47FC-B426-590BF722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"/>
            <a:ext cx="1314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60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60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60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60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60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60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60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60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60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62536"/>
                </a:solidFill>
                <a:latin typeface="PingFang SC"/>
                <a:ea typeface="PingFang SC"/>
                <a:cs typeface="PingFang SC"/>
              </a:rPr>
              <a:t>凯撒ERP建设进展与规划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DEB4A98-C567-4E90-9A71-5F6BFAB5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66825"/>
            <a:ext cx="1295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5EA4"/>
                </a:solidFill>
                <a:latin typeface="PingFang SC"/>
                <a:ea typeface="PingFang SC"/>
                <a:cs typeface="PingFang SC"/>
              </a:rPr>
              <a:t>一期成果与二期建设重点</a:t>
            </a:r>
          </a:p>
        </p:txBody>
      </p:sp>
      <p:sp>
        <p:nvSpPr>
          <p:cNvPr id="4" name="一期-内容区">
            <a:extLst xmlns:a="http://schemas.openxmlformats.org/drawingml/2006/main">
              <a:ext uri="{FF2B5EF4-FFF2-40B4-BE49-F238E27FC236}">
                <a16:creationId xmlns:a16="http://schemas.microsoft.com/office/drawing/2014/main" id="{2416AEC8-F314-4CF9-AE53-BF8CA58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6572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E"/>
            </a:solidFill>
          </a:ln>
        </p:spPr>
      </p:sp>
      <p:sp>
        <p:nvSpPr>
          <p:cNvPr id="5" name="一期-蓝色顶线">
            <a:extLst xmlns:a="http://schemas.openxmlformats.org/drawingml/2006/main">
              <a:ext uri="{FF2B5EF4-FFF2-40B4-BE49-F238E27FC236}">
                <a16:creationId xmlns:a16="http://schemas.microsoft.com/office/drawing/2014/main" id="{A82E50AE-27A8-4514-8C3B-7AE07801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657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EA4"/>
          </a:solidFill>
          <a:ln xmlns:a="http://schemas.openxmlformats.org/drawingml/2006/main" w="0">
            <a:noFill/>
          </a:ln>
        </p:spPr>
      </p:sp>
      <p:sp>
        <p:nvSpPr>
          <p:cNvPr id="6" name="二期-内容区">
            <a:extLst xmlns:a="http://schemas.openxmlformats.org/drawingml/2006/main">
              <a:ext uri="{FF2B5EF4-FFF2-40B4-BE49-F238E27FC236}">
                <a16:creationId xmlns:a16="http://schemas.microsoft.com/office/drawing/2014/main" id="{DFDA5764-0ABE-4F8C-B2F6-C840C060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57375"/>
            <a:ext cx="6572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E"/>
            </a:solidFill>
          </a:ln>
        </p:spPr>
      </p:sp>
      <p:sp>
        <p:nvSpPr>
          <p:cNvPr id="7" name="二期-蓝色顶线">
            <a:extLst xmlns:a="http://schemas.openxmlformats.org/drawingml/2006/main">
              <a:ext uri="{FF2B5EF4-FFF2-40B4-BE49-F238E27FC236}">
                <a16:creationId xmlns:a16="http://schemas.microsoft.com/office/drawing/2014/main" id="{2EC3D633-6775-4BF0-B648-A0BC2BEA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57375"/>
            <a:ext cx="657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EA4"/>
          </a:solidFill>
          <a:ln xmlns:a="http://schemas.openxmlformats.org/drawingml/2006/main" w="0">
            <a:noFill/>
          </a:ln>
        </p:spPr>
      </p:sp>
      <p:sp>
        <p:nvSpPr>
          <p:cNvPr id="8" name="phase1">
            <a:extLst xmlns:a="http://schemas.openxmlformats.org/drawingml/2006/main">
              <a:ext uri="{FF2B5EF4-FFF2-40B4-BE49-F238E27FC236}">
                <a16:creationId xmlns:a16="http://schemas.microsoft.com/office/drawing/2014/main" id="{31D6DB56-6B60-4CDC-A66F-DA6442DB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33600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rPr>
              <a:t>一期已完成</a:t>
            </a:r>
          </a:p>
        </p:txBody>
      </p:sp>
      <p:sp>
        <p:nvSpPr>
          <p:cNvPr id="9" name="phase2">
            <a:extLst xmlns:a="http://schemas.openxmlformats.org/drawingml/2006/main">
              <a:ext uri="{FF2B5EF4-FFF2-40B4-BE49-F238E27FC236}">
                <a16:creationId xmlns:a16="http://schemas.microsoft.com/office/drawing/2014/main" id="{7DC3969B-B027-486F-9741-F9AF39AC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62536"/>
                </a:solidFill>
                <a:latin typeface="PingFang SC"/>
                <a:ea typeface="PingFang SC"/>
                <a:cs typeface="PingFang SC"/>
              </a:rPr>
              <a:t>二期待建设</a:t>
            </a:r>
          </a:p>
        </p:txBody>
      </p:sp>
      <p:sp>
        <p:nvSpPr>
          <p:cNvPr id="10" name="count1">
            <a:extLst xmlns:a="http://schemas.openxmlformats.org/drawingml/2006/main">
              <a:ext uri="{FF2B5EF4-FFF2-40B4-BE49-F238E27FC236}">
                <a16:creationId xmlns:a16="http://schemas.microsoft.com/office/drawing/2014/main" id="{224197E3-D3A5-48AE-B03F-3324F501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19375"/>
            <a:ext cx="2047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pPr>
            <a:r>
              <a: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rPr>
              <a:t>142</a:t>
            </a:r>
          </a:p>
        </p:txBody>
      </p:sp>
      <p:sp>
        <p:nvSpPr>
          <p:cNvPr id="11" name="count1label">
            <a:extLst xmlns:a="http://schemas.openxmlformats.org/drawingml/2006/main">
              <a:ext uri="{FF2B5EF4-FFF2-40B4-BE49-F238E27FC236}">
                <a16:creationId xmlns:a16="http://schemas.microsoft.com/office/drawing/2014/main" id="{9537A827-1231-400A-A232-83B3B627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337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rPr>
              <a:t>项功能</a:t>
            </a:r>
          </a:p>
        </p:txBody>
      </p:sp>
      <p:sp>
        <p:nvSpPr>
          <p:cNvPr id="12" name="count2">
            <a:extLst xmlns:a="http://schemas.openxmlformats.org/drawingml/2006/main">
              <a:ext uri="{FF2B5EF4-FFF2-40B4-BE49-F238E27FC236}">
                <a16:creationId xmlns:a16="http://schemas.microsoft.com/office/drawing/2014/main" id="{94490D6D-E2C4-40BA-AED8-BBE6D92F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19375"/>
            <a:ext cx="2047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pPr>
            <a:r>
              <a:rPr sz="7200" b="1">
                <a:solidFill>
                  <a:srgbClr val="145EA4"/>
                </a:solidFill>
                <a:latin typeface="PingFang SC"/>
                <a:ea typeface="PingFang SC"/>
                <a:cs typeface="PingFang SC"/>
              </a:rPr>
              <a:t>173</a:t>
            </a:r>
          </a:p>
        </p:txBody>
      </p:sp>
      <p:sp>
        <p:nvSpPr>
          <p:cNvPr id="13" name="count2label">
            <a:extLst xmlns:a="http://schemas.openxmlformats.org/drawingml/2006/main">
              <a:ext uri="{FF2B5EF4-FFF2-40B4-BE49-F238E27FC236}">
                <a16:creationId xmlns:a16="http://schemas.microsoft.com/office/drawing/2014/main" id="{7FC3A158-0C5A-462F-83F5-B046B0E8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337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32465C"/>
                </a:solidFill>
                <a:latin typeface="PingFang SC"/>
                <a:ea typeface="PingFang SC"/>
                <a:cs typeface="PingFang SC"/>
              </a:rPr>
              <a:t>项规划功能</a:t>
            </a:r>
          </a:p>
        </p:txBody>
      </p:sp>
      <p:sp>
        <p:nvSpPr>
          <p:cNvPr id="14" name="count1detail">
            <a:extLst xmlns:a="http://schemas.openxmlformats.org/drawingml/2006/main">
              <a:ext uri="{FF2B5EF4-FFF2-40B4-BE49-F238E27FC236}">
                <a16:creationId xmlns:a16="http://schemas.microsoft.com/office/drawing/2014/main" id="{B7128D26-B950-41C1-A44A-ACBD535D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433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rPr>
              <a:t>一期共166项，剩余24项待收尾</a:t>
            </a:r>
          </a:p>
        </p:txBody>
      </p:sp>
      <p:sp>
        <p:nvSpPr>
          <p:cNvPr id="15" name="count2detail">
            <a:extLst xmlns:a="http://schemas.openxmlformats.org/drawingml/2006/main">
              <a:ext uri="{FF2B5EF4-FFF2-40B4-BE49-F238E27FC236}">
                <a16:creationId xmlns:a16="http://schemas.microsoft.com/office/drawing/2014/main" id="{B50E1989-1502-426D-AE79-A22436B0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433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9889B"/>
                </a:solidFill>
                <a:latin typeface="PingFang SC"/>
                <a:ea typeface="PingFang SC"/>
                <a:cs typeface="PingFang SC"/>
              </a:rPr>
              <a:t>业务端99项   渠道端39项   集团端35项</a:t>
            </a:r>
          </a:p>
        </p:txBody>
      </p:sp>
      <p:sp>
        <p:nvSpPr>
          <p:cNvPr id="16" name="left-0-title">
            <a:extLst xmlns:a="http://schemas.openxmlformats.org/drawingml/2006/main">
              <a:ext uri="{FF2B5EF4-FFF2-40B4-BE49-F238E27FC236}">
                <a16:creationId xmlns:a16="http://schemas.microsoft.com/office/drawing/2014/main" id="{21E74B26-BADF-416C-8501-7B5609E0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rPr>
              <a:t>资源与产品</a:t>
            </a:r>
          </a:p>
        </p:txBody>
      </p:sp>
      <p:sp>
        <p:nvSpPr>
          <p:cNvPr id="17" name="left-0-detail">
            <a:extLst xmlns:a="http://schemas.openxmlformats.org/drawingml/2006/main">
              <a:ext uri="{FF2B5EF4-FFF2-40B4-BE49-F238E27FC236}">
                <a16:creationId xmlns:a16="http://schemas.microsoft.com/office/drawing/2014/main" id="{7C641974-87B7-4FD5-89D9-BCFBBE9E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rPr>
              <a:t>资源档案、线路与报价</a:t>
            </a:r>
          </a:p>
        </p:txBody>
      </p:sp>
      <p:sp>
        <p:nvSpPr>
          <p:cNvPr id="18" name="right-0-title">
            <a:extLst xmlns:a="http://schemas.openxmlformats.org/drawingml/2006/main">
              <a:ext uri="{FF2B5EF4-FFF2-40B4-BE49-F238E27FC236}">
                <a16:creationId xmlns:a16="http://schemas.microsoft.com/office/drawing/2014/main" id="{233D8D34-AF31-4351-B209-647AB2A6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rPr>
              <a:t>旅游业务深化</a:t>
            </a:r>
          </a:p>
        </p:txBody>
      </p:sp>
      <p:sp>
        <p:nvSpPr>
          <p:cNvPr id="19" name="right-0-detail">
            <a:extLst xmlns:a="http://schemas.openxmlformats.org/drawingml/2006/main">
              <a:ext uri="{FF2B5EF4-FFF2-40B4-BE49-F238E27FC236}">
                <a16:creationId xmlns:a16="http://schemas.microsoft.com/office/drawing/2014/main" id="{CE1A689B-FB38-4F18-BACE-43A77975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244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rPr>
              <a:t>邮轮航服、组合与采购</a:t>
            </a:r>
          </a:p>
        </p:txBody>
      </p:sp>
      <p:sp>
        <p:nvSpPr>
          <p:cNvPr id="20" name="left-1-title">
            <a:extLst xmlns:a="http://schemas.openxmlformats.org/drawingml/2006/main">
              <a:ext uri="{FF2B5EF4-FFF2-40B4-BE49-F238E27FC236}">
                <a16:creationId xmlns:a16="http://schemas.microsoft.com/office/drawing/2014/main" id="{3482A0CA-6FCD-4861-8683-0EB21735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434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rPr>
              <a:t>订单与履约</a:t>
            </a:r>
          </a:p>
        </p:txBody>
      </p:sp>
      <p:sp>
        <p:nvSpPr>
          <p:cNvPr id="21" name="left-1-detail">
            <a:extLst xmlns:a="http://schemas.openxmlformats.org/drawingml/2006/main">
              <a:ext uri="{FF2B5EF4-FFF2-40B4-BE49-F238E27FC236}">
                <a16:creationId xmlns:a16="http://schemas.microsoft.com/office/drawing/2014/main" id="{9B9916F3-7C8B-42F5-A115-8B0306B3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244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rPr>
              <a:t>订单团期、出团及门店</a:t>
            </a:r>
          </a:p>
        </p:txBody>
      </p:sp>
      <p:sp>
        <p:nvSpPr>
          <p:cNvPr id="22" name="right-1-title">
            <a:extLst xmlns:a="http://schemas.openxmlformats.org/drawingml/2006/main">
              <a:ext uri="{FF2B5EF4-FFF2-40B4-BE49-F238E27FC236}">
                <a16:creationId xmlns:a16="http://schemas.microsoft.com/office/drawing/2014/main" id="{23F2E815-29C5-46FB-9EA9-8CE20A4D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3434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rPr>
              <a:t>客户与渠道</a:t>
            </a:r>
          </a:p>
        </p:txBody>
      </p:sp>
      <p:sp>
        <p:nvSpPr>
          <p:cNvPr id="23" name="right-1-detail">
            <a:extLst xmlns:a="http://schemas.openxmlformats.org/drawingml/2006/main">
              <a:ext uri="{FF2B5EF4-FFF2-40B4-BE49-F238E27FC236}">
                <a16:creationId xmlns:a16="http://schemas.microsoft.com/office/drawing/2014/main" id="{7BF26547-DD4B-44A5-B9CE-B7FDD203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7244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rPr>
              <a:t>会员营销、官网及移动端</a:t>
            </a:r>
          </a:p>
        </p:txBody>
      </p:sp>
      <p:sp>
        <p:nvSpPr>
          <p:cNvPr id="24" name="left-2-title">
            <a:extLst xmlns:a="http://schemas.openxmlformats.org/drawingml/2006/main">
              <a:ext uri="{FF2B5EF4-FFF2-40B4-BE49-F238E27FC236}">
                <a16:creationId xmlns:a16="http://schemas.microsoft.com/office/drawing/2014/main" id="{4C65CC4B-33BE-478F-B3F1-825D12D2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625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rPr>
              <a:t>供应商协同</a:t>
            </a:r>
          </a:p>
        </p:txBody>
      </p:sp>
      <p:sp>
        <p:nvSpPr>
          <p:cNvPr id="25" name="left-2-detail">
            <a:extLst xmlns:a="http://schemas.openxmlformats.org/drawingml/2006/main">
              <a:ext uri="{FF2B5EF4-FFF2-40B4-BE49-F238E27FC236}">
                <a16:creationId xmlns:a16="http://schemas.microsoft.com/office/drawing/2014/main" id="{C75D37A1-7088-4521-937D-13240225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435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rPr>
              <a:t>编品、供给、接单及对账</a:t>
            </a:r>
          </a:p>
        </p:txBody>
      </p:sp>
      <p:sp>
        <p:nvSpPr>
          <p:cNvPr id="26" name="right-2-title">
            <a:extLst xmlns:a="http://schemas.openxmlformats.org/drawingml/2006/main">
              <a:ext uri="{FF2B5EF4-FFF2-40B4-BE49-F238E27FC236}">
                <a16:creationId xmlns:a16="http://schemas.microsoft.com/office/drawing/2014/main" id="{7A9B0EED-E38C-4E59-951D-644939E2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625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rPr>
              <a:t>业财与经营报表</a:t>
            </a:r>
          </a:p>
        </p:txBody>
      </p:sp>
      <p:sp>
        <p:nvSpPr>
          <p:cNvPr id="27" name="right-2-detail">
            <a:extLst xmlns:a="http://schemas.openxmlformats.org/drawingml/2006/main">
              <a:ext uri="{FF2B5EF4-FFF2-40B4-BE49-F238E27FC236}">
                <a16:creationId xmlns:a16="http://schemas.microsoft.com/office/drawing/2014/main" id="{16A9B314-817E-4975-A843-22B1AFAA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435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rPr>
              <a:t>复杂结算、资金及经营分析</a:t>
            </a:r>
          </a:p>
        </p:txBody>
      </p:sp>
      <p:sp>
        <p:nvSpPr>
          <p:cNvPr id="28" name="left-3-title">
            <a:extLst xmlns:a="http://schemas.openxmlformats.org/drawingml/2006/main">
              <a:ext uri="{FF2B5EF4-FFF2-40B4-BE49-F238E27FC236}">
                <a16:creationId xmlns:a16="http://schemas.microsoft.com/office/drawing/2014/main" id="{52A36879-6943-4B33-924A-6BB4098B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625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rPr>
              <a:t>集团与基础财务</a:t>
            </a:r>
          </a:p>
        </p:txBody>
      </p:sp>
      <p:sp>
        <p:nvSpPr>
          <p:cNvPr id="29" name="left-3-detail">
            <a:extLst xmlns:a="http://schemas.openxmlformats.org/drawingml/2006/main">
              <a:ext uri="{FF2B5EF4-FFF2-40B4-BE49-F238E27FC236}">
                <a16:creationId xmlns:a16="http://schemas.microsoft.com/office/drawing/2014/main" id="{38B21E6A-1964-4AFE-9ED3-F498773C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435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rPr>
              <a:t>组织权限、收退款及发票</a:t>
            </a:r>
          </a:p>
        </p:txBody>
      </p:sp>
      <p:sp>
        <p:nvSpPr>
          <p:cNvPr id="30" name="right-3-title">
            <a:extLst xmlns:a="http://schemas.openxmlformats.org/drawingml/2006/main">
              <a:ext uri="{FF2B5EF4-FFF2-40B4-BE49-F238E27FC236}">
                <a16:creationId xmlns:a16="http://schemas.microsoft.com/office/drawing/2014/main" id="{7F4DBDCB-1CCC-4AB3-BAB1-35FB1AD2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1625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536"/>
                </a:solidFill>
                <a:latin typeface="PingFang SC"/>
                <a:ea typeface="PingFang SC"/>
                <a:cs typeface="PingFang SC"/>
              </a:rPr>
              <a:t>系统对接与接续</a:t>
            </a:r>
          </a:p>
        </p:txBody>
      </p:sp>
      <p:sp>
        <p:nvSpPr>
          <p:cNvPr id="31" name="right-3-detail">
            <a:extLst xmlns:a="http://schemas.openxmlformats.org/drawingml/2006/main">
              <a:ext uri="{FF2B5EF4-FFF2-40B4-BE49-F238E27FC236}">
                <a16:creationId xmlns:a16="http://schemas.microsoft.com/office/drawing/2014/main" id="{23B13B76-D95C-460C-B2EB-ECC11498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5435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32465C"/>
                </a:solidFill>
                <a:latin typeface="PingFang SC"/>
                <a:ea typeface="PingFang SC"/>
                <a:cs typeface="PingFang SC"/>
              </a:rPr>
              <a:t>旧ERP、合同、致远及NC</a:t>
            </a:r>
          </a:p>
        </p:txBody>
      </p:sp>
      <p:sp>
        <p:nvSpPr>
          <p:cNvPr id="32" name="remaining-heading">
            <a:extLst xmlns:a="http://schemas.openxmlformats.org/drawingml/2006/main">
              <a:ext uri="{FF2B5EF4-FFF2-40B4-BE49-F238E27FC236}">
                <a16:creationId xmlns:a16="http://schemas.microsoft.com/office/drawing/2014/main" id="{88CA69B6-49B3-45BE-B21C-E3CE4AA3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1352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5EA4"/>
                </a:solidFill>
                <a:latin typeface="PingFang SC"/>
                <a:ea typeface="PingFang SC"/>
                <a:cs typeface="PingFang SC"/>
              </a:rPr>
              <a:t>一期收尾重点</a:t>
            </a:r>
          </a:p>
        </p:txBody>
      </p:sp>
      <p:sp>
        <p:nvSpPr>
          <p:cNvPr id="33" name="收尾提示区域">
            <a:extLst xmlns:a="http://schemas.openxmlformats.org/drawingml/2006/main">
              <a:ext uri="{FF2B5EF4-FFF2-40B4-BE49-F238E27FC236}">
                <a16:creationId xmlns:a16="http://schemas.microsoft.com/office/drawing/2014/main" id="{71324FCD-B8B3-421B-A9C1-BA9E368D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77050"/>
            <a:ext cx="1352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C"/>
          </a:solidFill>
          <a:ln xmlns:a="http://schemas.openxmlformats.org/drawingml/2006/main" w="0">
            <a:noFill/>
          </a:ln>
        </p:spPr>
      </p:sp>
      <p:sp>
        <p:nvSpPr>
          <p:cNvPr id="34" name="remaining-count">
            <a:extLst xmlns:a="http://schemas.openxmlformats.org/drawingml/2006/main">
              <a:ext uri="{FF2B5EF4-FFF2-40B4-BE49-F238E27FC236}">
                <a16:creationId xmlns:a16="http://schemas.microsoft.com/office/drawing/2014/main" id="{FFFD9422-1F18-423E-9C35-8E572F6F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981825"/>
            <a:ext cx="1000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1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1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1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1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1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1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1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1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1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4125" b="1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145EA4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35" name="remaining-unit">
            <a:extLst xmlns:a="http://schemas.openxmlformats.org/drawingml/2006/main">
              <a:ext uri="{FF2B5EF4-FFF2-40B4-BE49-F238E27FC236}">
                <a16:creationId xmlns:a16="http://schemas.microsoft.com/office/drawing/2014/main" id="{968AEF6D-1D28-4C1A-8255-77CFB35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2580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145EA4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45EA4"/>
                </a:solidFill>
                <a:latin typeface="PingFang SC"/>
                <a:ea typeface="PingFang SC"/>
                <a:cs typeface="PingFang SC"/>
              </a:rPr>
              <a:t>项</a:t>
            </a:r>
          </a:p>
        </p:txBody>
      </p:sp>
      <p:sp>
        <p:nvSpPr>
          <p:cNvPr id="36" name="remaining-business">
            <a:extLst xmlns:a="http://schemas.openxmlformats.org/drawingml/2006/main">
              <a:ext uri="{FF2B5EF4-FFF2-40B4-BE49-F238E27FC236}">
                <a16:creationId xmlns:a16="http://schemas.microsoft.com/office/drawing/2014/main" id="{D2E7FC42-3E05-4244-A339-DC76D09E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0294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rPr>
              <a:t>业务与合同   签证、合同、电销及通通游同步</a:t>
            </a:r>
          </a:p>
        </p:txBody>
      </p:sp>
      <p:sp>
        <p:nvSpPr>
          <p:cNvPr id="37" name="remaining-finance">
            <a:extLst xmlns:a="http://schemas.openxmlformats.org/drawingml/2006/main">
              <a:ext uri="{FF2B5EF4-FFF2-40B4-BE49-F238E27FC236}">
                <a16:creationId xmlns:a16="http://schemas.microsoft.com/office/drawing/2014/main" id="{5D8DE203-B80C-4832-AF2D-079389CF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4199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2465C"/>
                </a:solidFill>
                <a:latin typeface="PingFang SC"/>
                <a:ea typeface="PingFang SC"/>
                <a:cs typeface="PingFang SC"/>
              </a:rPr>
              <a:t>财务与对接   预款、付款、结算、报表、致远及NC</a:t>
            </a:r>
          </a:p>
        </p:txBody>
      </p:sp>
      <p:sp>
        <p:nvSpPr>
          <p:cNvPr id="38" name="scope-note">
            <a:extLst xmlns:a="http://schemas.openxmlformats.org/drawingml/2006/main">
              <a:ext uri="{FF2B5EF4-FFF2-40B4-BE49-F238E27FC236}">
                <a16:creationId xmlns:a16="http://schemas.microsoft.com/office/drawing/2014/main" id="{0889E75B-67B5-4818-8824-C3C28186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48625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0">
                <a:solidFill>
                  <a:srgbClr val="79889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9889B"/>
                </a:solidFill>
                <a:latin typeface="PingFang SC"/>
                <a:ea typeface="PingFang SC"/>
                <a:cs typeface="PingFang SC"/>
              </a:rPr>
              <a:t>会员与营销5项已注明二期开发。按原表“进度100%”统计完成数，联调及验收状态未填写。</a:t>
            </a:r>
          </a:p>
        </p:txBody>
      </p:sp>
    </p:spTree>
    <p:extLst>
      <p:ext uri="{BB962C8B-B14F-4D97-AF65-F5344CB8AC3E}">
        <p14:creationId xmlns:p14="http://schemas.microsoft.com/office/powerpoint/2010/main" val="2077587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2026-10-18T13:32:05.8130000Z</dcterms:created>
  <dcterms:modified xsi:type="dcterms:W3CDTF">2026-10-18T13:32:05.8130000Z</dcterms:modified>
</coreProperties>
</file>