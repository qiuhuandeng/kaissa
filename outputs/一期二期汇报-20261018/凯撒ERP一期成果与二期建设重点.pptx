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8fb3efed7342a6" /><Relationship Type="http://schemas.openxmlformats.org/officeDocument/2006/relationships/extended-properties" Target="/docProps/app.xml" Id="R68971af76bd14c19" /><Relationship Type="http://schemas.openxmlformats.org/officeDocument/2006/relationships/officeDocument" Target="/ppt/presentation.xml" Id="Ra296ddc3e0da4f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35eb9487b74f12"/>
  </p:sldMasterIdLst>
  <p:notesMasterIdLst>
    <p:notesMasterId xmlns:r="http://schemas.openxmlformats.org/officeDocument/2006/relationships" r:id="R9597c3c142ed4956"/>
  </p:notesMasterIdLst>
  <p:sldIdLst>
    <p:sldId xmlns:r="http://schemas.openxmlformats.org/officeDocument/2006/relationships" id="256" r:id="Re9ceb4b653c54e5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9d6f17c2649b3" /><Relationship Type="http://schemas.openxmlformats.org/officeDocument/2006/relationships/slideMaster" Target="/ppt/slideMasters/slideMaster1.xml" Id="Rdd35eb9487b74f12" /><Relationship Type="http://schemas.openxmlformats.org/officeDocument/2006/relationships/notesMaster" Target="/ppt/notesMasters/notesMaster1.xml" Id="R9597c3c142ed4956" /><Relationship Type="http://schemas.openxmlformats.org/officeDocument/2006/relationships/presProps" Target="/ppt/presProps.xml" Id="R8028e607c2834828" /><Relationship Type="http://schemas.openxmlformats.org/officeDocument/2006/relationships/tableStyles" Target="/ppt/tableStyles.xml" Id="R0b8de1cd9c5d4a40" /><Relationship Type="http://schemas.openxmlformats.org/officeDocument/2006/relationships/slide" Target="/ppt/slides/slide1.xml" Id="Re9ceb4b653c54e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9c48b4a63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77f396ee94e08" /><Relationship Type="http://schemas.openxmlformats.org/officeDocument/2006/relationships/notesMaster" Target="/ppt/notesMasters/notesMaster1.xml" Id="R0ae9960537c24a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数据来源：/Users/qiu/Downloads/开发进度表 (3).xlsx，六张子表。</a:t>
            </a:r>
          </a:p>
          <a:p xmlns:a="http://schemas.openxmlformats.org/drawingml/2006/main">
            <a:r>
              <a:t>一期为业务端、供应商端、集团端三表，功能项非空的实质条目数分别为86、49、31，总计166项。按进度列等于1统计完成数67、49、26，总计142项。未完成24项，其中10项进度为50%至90%，14项为0%。业务端第65、66、86、87、88行注明二期开发，仍包含在原表一期166项分母中。</a:t>
            </a:r>
          </a:p>
          <a:p xmlns:a="http://schemas.openxmlformats.org/drawingml/2006/main">
            <a:r>
              <a:t>一期范围：业务端C3:L88、供应商端C3:L51、集团端C3:L33。集团端第24行为未编号的审批配置，已计入。</a:t>
            </a:r>
          </a:p>
          <a:p xmlns:a="http://schemas.openxmlformats.org/drawingml/2006/main">
            <a:r>
              <a:t>二期为业务端（二期）C2:K100、渠道端（二期）C2:K40、集团端（二期）C2:K36，分别99、39、35项，总计173项，进度均为0。二期内容按业务领域归并展示，不以功能项数作为工作量权重。</a:t>
            </a:r>
          </a:p>
          <a:p xmlns:a="http://schemas.openxmlformats.org/drawingml/2006/main">
            <a:r>
              <a:t>已完成内容按表内登记状态归纳，供应商端个别描述仍保留待确认事项，联调和验收状态栏均未填写，不能据此认定已经正式验收。</a:t>
            </a:r>
          </a:p>
          <a:p xmlns:a="http://schemas.openxmlformats.org/drawingml/2006/main">
            <a:r>
              <a:t>NC指集团财务核算系统。在线旅游平台包括OTA与分销渠道。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fa56c2f1547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4eae2d0494d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785b904f949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3d357db1747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a2fa3b6904e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1e2269ed549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DF69D9-03D2-4395-85C9-1AFF32EA2F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0DE12C-BB95-48BA-A104-1AA096FF4B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FDCB2C-516E-45C3-AB27-982DFB120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53E1F0-0434-4099-81E5-D6EF24F65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BC5BD0-B7FE-4432-9B22-8133017DF6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3D481D-A125-4569-8941-14362FA70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21E253-A424-4C19-BE9A-58420607D4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E2383A-429C-42BE-BE4F-5ED11A26E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FBA892-9B15-41C5-91E1-38688B299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224E3C-A84D-4EC5-BE17-0AF6D52A1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bda8ae1d84e48" /><Relationship Type="http://schemas.openxmlformats.org/officeDocument/2006/relationships/slideLayout" Target="/ppt/slideLayouts/slideLayout1.xml" Id="R4660259edbab4b4c" /><Relationship Type="http://schemas.openxmlformats.org/officeDocument/2006/relationships/slideLayout" Target="/ppt/slideLayouts/slideLayout2.xml" Id="R907455bbcf6d4ba0" /><Relationship Type="http://schemas.openxmlformats.org/officeDocument/2006/relationships/slideLayout" Target="/ppt/slideLayouts/slideLayout3.xml" Id="R0aa3dedfa0704a1b" /><Relationship Type="http://schemas.openxmlformats.org/officeDocument/2006/relationships/slideLayout" Target="/ppt/slideLayouts/slideLayout4.xml" Id="R1d98b55779114538" /><Relationship Type="http://schemas.openxmlformats.org/officeDocument/2006/relationships/slideLayout" Target="/ppt/slideLayouts/slideLayout5.xml" Id="Rb184acfb0e96416c" /><Relationship Type="http://schemas.openxmlformats.org/officeDocument/2006/relationships/slideLayout" Target="/ppt/slideLayouts/slideLayout6.xml" Id="R9708baa4c115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0259edbab4b4c"/>
    <p:sldLayoutId xmlns:r="http://schemas.openxmlformats.org/officeDocument/2006/relationships" id="2147483650" r:id="R907455bbcf6d4ba0"/>
    <p:sldLayoutId xmlns:r="http://schemas.openxmlformats.org/officeDocument/2006/relationships" id="2147483651" r:id="R0aa3dedfa0704a1b"/>
    <p:sldLayoutId xmlns:r="http://schemas.openxmlformats.org/officeDocument/2006/relationships" id="2147483652" r:id="R1d98b55779114538"/>
    <p:sldLayoutId xmlns:r="http://schemas.openxmlformats.org/officeDocument/2006/relationships" id="2147483653" r:id="Rb184acfb0e96416c"/>
    <p:sldLayoutId xmlns:r="http://schemas.openxmlformats.org/officeDocument/2006/relationships" id="2147483654" r:id="R9708baa4c115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c9ed70cbd4eb2" /><Relationship Type="http://schemas.openxmlformats.org/officeDocument/2006/relationships/notesSlide" Target="/ppt/notesSlides/notesSlide1.xml" Id="Rfd09623ca54c40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F1935D4A-C0A2-448A-BA98-59102940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凯撒ERP一期成果与二期建设重点</a:t>
            </a:r>
          </a:p>
        </p:txBody>
      </p:sp>
      <p:sp>
        <p:nvSpPr>
          <p:cNvPr id="2" name="phase1">
            <a:extLst xmlns:a="http://schemas.openxmlformats.org/drawingml/2006/main">
              <a:ext uri="{FF2B5EF4-FFF2-40B4-BE49-F238E27FC236}">
                <a16:creationId xmlns:a16="http://schemas.microsoft.com/office/drawing/2014/main" id="{4956A094-B071-4107-83D9-7F4069D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87B75"/>
                </a:solidFill>
                <a:latin typeface="PingFang SC"/>
                <a:ea typeface="PingFang SC"/>
                <a:cs typeface="PingFang SC"/>
              </a:rPr>
              <a:t>一期已完成 142项</a:t>
            </a:r>
          </a:p>
        </p:txBody>
      </p:sp>
      <p:sp>
        <p:nvSpPr>
          <p:cNvPr id="3" name="phase1counts">
            <a:extLst xmlns:a="http://schemas.openxmlformats.org/drawingml/2006/main">
              <a:ext uri="{FF2B5EF4-FFF2-40B4-BE49-F238E27FC236}">
                <a16:creationId xmlns:a16="http://schemas.microsoft.com/office/drawing/2014/main" id="{5F5460DA-6987-4323-97BC-9BD5B15F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rPr>
              <a:t>共166项：业务端67/86　供应商端49/49　集团端26/31</a:t>
            </a:r>
          </a:p>
        </p:txBody>
      </p:sp>
      <p:sp>
        <p:nvSpPr>
          <p:cNvPr id="4" name="phase2">
            <a:extLst xmlns:a="http://schemas.openxmlformats.org/drawingml/2006/main">
              <a:ext uri="{FF2B5EF4-FFF2-40B4-BE49-F238E27FC236}">
                <a16:creationId xmlns:a16="http://schemas.microsoft.com/office/drawing/2014/main" id="{B3EF58A9-3215-4295-A875-D3CDA1DC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04925"/>
            <a:ext cx="678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157AE"/>
                </a:solidFill>
                <a:latin typeface="PingFang SC"/>
                <a:ea typeface="PingFang SC"/>
                <a:cs typeface="PingFang SC"/>
              </a:rPr>
              <a:t>二期待建设 173项</a:t>
            </a:r>
          </a:p>
        </p:txBody>
      </p:sp>
      <p:sp>
        <p:nvSpPr>
          <p:cNvPr id="5" name="phase2counts">
            <a:extLst xmlns:a="http://schemas.openxmlformats.org/drawingml/2006/main">
              <a:ext uri="{FF2B5EF4-FFF2-40B4-BE49-F238E27FC236}">
                <a16:creationId xmlns:a16="http://schemas.microsoft.com/office/drawing/2014/main" id="{13D4CBE0-6F54-4343-A94B-31BA0496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28800"/>
            <a:ext cx="678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57487"/>
                </a:solidFill>
                <a:latin typeface="PingFang SC"/>
                <a:ea typeface="PingFang SC"/>
                <a:cs typeface="PingFang SC"/>
              </a:rPr>
              <a:t>业务端99项　渠道端39项　集团端35项</a:t>
            </a:r>
          </a:p>
        </p:txBody>
      </p:sp>
      <p:sp>
        <p:nvSpPr>
          <p:cNvPr id="6" name="completed-0">
            <a:extLst xmlns:a="http://schemas.openxmlformats.org/drawingml/2006/main">
              <a:ext uri="{FF2B5EF4-FFF2-40B4-BE49-F238E27FC236}">
                <a16:creationId xmlns:a16="http://schemas.microsoft.com/office/drawing/2014/main" id="{DE71FC4F-9544-4856-BC81-10C122AB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资源与产品</a:t>
            </a:r>
          </a:p>
        </p:txBody>
      </p:sp>
      <p:sp>
        <p:nvSpPr>
          <p:cNvPr id="7" name="completed-detail-0">
            <a:extLst xmlns:a="http://schemas.openxmlformats.org/drawingml/2006/main">
              <a:ext uri="{FF2B5EF4-FFF2-40B4-BE49-F238E27FC236}">
                <a16:creationId xmlns:a16="http://schemas.microsoft.com/office/drawing/2014/main" id="{BBAB7DB6-B49C-40C8-B621-9E7F072E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670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资源主数据、供应商及领队档案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产品线路、单团询报价、佣金政策</a:t>
            </a:r>
          </a:p>
        </p:txBody>
      </p:sp>
      <p:sp>
        <p:nvSpPr>
          <p:cNvPr id="8" name="planned-0">
            <a:extLst xmlns:a="http://schemas.openxmlformats.org/drawingml/2006/main">
              <a:ext uri="{FF2B5EF4-FFF2-40B4-BE49-F238E27FC236}">
                <a16:creationId xmlns:a16="http://schemas.microsoft.com/office/drawing/2014/main" id="{28587D1F-7EA4-469E-9240-9CD7094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旅游业务深化</a:t>
            </a:r>
          </a:p>
        </p:txBody>
      </p:sp>
      <p:sp>
        <p:nvSpPr>
          <p:cNvPr id="9" name="planned-detail-0">
            <a:extLst xmlns:a="http://schemas.openxmlformats.org/drawingml/2006/main">
              <a:ext uri="{FF2B5EF4-FFF2-40B4-BE49-F238E27FC236}">
                <a16:creationId xmlns:a16="http://schemas.microsoft.com/office/drawing/2014/main" id="{B35A0807-6A85-4A7D-9B5B-271B27F8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678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邮轮、航服、单项与组合、签证、定制会奖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动态采购、资源损耗与分阶段结算</a:t>
            </a:r>
          </a:p>
        </p:txBody>
      </p:sp>
      <p:sp>
        <p:nvSpPr>
          <p:cNvPr id="10" name="completed-1">
            <a:extLst xmlns:a="http://schemas.openxmlformats.org/drawingml/2006/main">
              <a:ext uri="{FF2B5EF4-FFF2-40B4-BE49-F238E27FC236}">
                <a16:creationId xmlns:a16="http://schemas.microsoft.com/office/drawing/2014/main" id="{566A3A5F-43EA-458F-AE1E-B35B40FF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订单与履约</a:t>
            </a:r>
          </a:p>
        </p:txBody>
      </p:sp>
      <p:sp>
        <p:nvSpPr>
          <p:cNvPr id="11" name="completed-detail-1">
            <a:extLst xmlns:a="http://schemas.openxmlformats.org/drawingml/2006/main">
              <a:ext uri="{FF2B5EF4-FFF2-40B4-BE49-F238E27FC236}">
                <a16:creationId xmlns:a16="http://schemas.microsoft.com/office/drawing/2014/main" id="{F7C8A19F-031C-4F9E-9490-739A112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70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预订与订单、团期名额、出团资源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售后处理、门店下单及对账</a:t>
            </a:r>
          </a:p>
        </p:txBody>
      </p:sp>
      <p:sp>
        <p:nvSpPr>
          <p:cNvPr id="12" name="planned-1">
            <a:extLst xmlns:a="http://schemas.openxmlformats.org/drawingml/2006/main">
              <a:ext uri="{FF2B5EF4-FFF2-40B4-BE49-F238E27FC236}">
                <a16:creationId xmlns:a16="http://schemas.microsoft.com/office/drawing/2014/main" id="{1E124347-FE8E-456C-A710-97AEACDE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客户经营与渠道建设</a:t>
            </a:r>
          </a:p>
        </p:txBody>
      </p:sp>
      <p:sp>
        <p:nvSpPr>
          <p:cNvPr id="13" name="planned-detail-1">
            <a:extLst xmlns:a="http://schemas.openxmlformats.org/drawingml/2006/main">
              <a:ext uri="{FF2B5EF4-FFF2-40B4-BE49-F238E27FC236}">
                <a16:creationId xmlns:a16="http://schemas.microsoft.com/office/drawing/2014/main" id="{BA95747A-3FF6-4BC8-9E77-ADC1B238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678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储值会员积分、活动优惠券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官网、游客/分销小程序、领队端及在线旅游平台</a:t>
            </a:r>
          </a:p>
        </p:txBody>
      </p:sp>
      <p:sp>
        <p:nvSpPr>
          <p:cNvPr id="14" name="completed-2">
            <a:extLst xmlns:a="http://schemas.openxmlformats.org/drawingml/2006/main">
              <a:ext uri="{FF2B5EF4-FFF2-40B4-BE49-F238E27FC236}">
                <a16:creationId xmlns:a16="http://schemas.microsoft.com/office/drawing/2014/main" id="{9D95512B-594D-4329-B9CE-6D7C1627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供应商协同</a:t>
            </a:r>
          </a:p>
        </p:txBody>
      </p:sp>
      <p:sp>
        <p:nvSpPr>
          <p:cNvPr id="15" name="completed-detail-2">
            <a:extLst xmlns:a="http://schemas.openxmlformats.org/drawingml/2006/main">
              <a:ext uri="{FF2B5EF4-FFF2-40B4-BE49-F238E27FC236}">
                <a16:creationId xmlns:a16="http://schemas.microsoft.com/office/drawing/2014/main" id="{BD891AEA-17B5-48B9-A4DC-DF535F68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70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自主编品、价格余位、接单回复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智能资料识别、账单核对及发票提交</a:t>
            </a:r>
          </a:p>
        </p:txBody>
      </p:sp>
      <p:sp>
        <p:nvSpPr>
          <p:cNvPr id="16" name="planned-2">
            <a:extLst xmlns:a="http://schemas.openxmlformats.org/drawingml/2006/main">
              <a:ext uri="{FF2B5EF4-FFF2-40B4-BE49-F238E27FC236}">
                <a16:creationId xmlns:a16="http://schemas.microsoft.com/office/drawing/2014/main" id="{905BAEB7-CA4D-45D3-A882-2BBA0031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财务处理与经营分析</a:t>
            </a:r>
          </a:p>
        </p:txBody>
      </p:sp>
      <p:sp>
        <p:nvSpPr>
          <p:cNvPr id="17" name="planned-detail-2">
            <a:extLst xmlns:a="http://schemas.openxmlformats.org/drawingml/2006/main">
              <a:ext uri="{FF2B5EF4-FFF2-40B4-BE49-F238E27FC236}">
                <a16:creationId xmlns:a16="http://schemas.microsoft.com/office/drawing/2014/main" id="{E483C499-6524-4698-9B8E-13F2A5B2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678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内部往来、佣金返点、外币、支付及票据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收付账龄、损益毛利、产品渠道贡献及预算</a:t>
            </a:r>
          </a:p>
        </p:txBody>
      </p:sp>
      <p:sp>
        <p:nvSpPr>
          <p:cNvPr id="18" name="completed-3">
            <a:extLst xmlns:a="http://schemas.openxmlformats.org/drawingml/2006/main">
              <a:ext uri="{FF2B5EF4-FFF2-40B4-BE49-F238E27FC236}">
                <a16:creationId xmlns:a16="http://schemas.microsoft.com/office/drawing/2014/main" id="{AD2489FE-CADE-4EEC-A386-7B545357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集团管理与基础财务</a:t>
            </a:r>
          </a:p>
        </p:txBody>
      </p:sp>
      <p:sp>
        <p:nvSpPr>
          <p:cNvPr id="19" name="completed-detail-3">
            <a:extLst xmlns:a="http://schemas.openxmlformats.org/drawingml/2006/main">
              <a:ext uri="{FF2B5EF4-FFF2-40B4-BE49-F238E27FC236}">
                <a16:creationId xmlns:a16="http://schemas.microsoft.com/office/drawing/2014/main" id="{D3855670-23F9-445E-9B0D-66880943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70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组织权限、岗位员工、系统配置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收款、退款转款及发票基础流程</a:t>
            </a:r>
          </a:p>
        </p:txBody>
      </p:sp>
      <p:sp>
        <p:nvSpPr>
          <p:cNvPr id="20" name="planned-3">
            <a:extLst xmlns:a="http://schemas.openxmlformats.org/drawingml/2006/main">
              <a:ext uri="{FF2B5EF4-FFF2-40B4-BE49-F238E27FC236}">
                <a16:creationId xmlns:a16="http://schemas.microsoft.com/office/drawing/2014/main" id="{53640AD6-D0AA-44A4-BD78-9188752E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C46"/>
                </a:solidFill>
                <a:latin typeface="PingFang SC"/>
                <a:ea typeface="PingFang SC"/>
                <a:cs typeface="PingFang SC"/>
              </a:rPr>
              <a:t>系统对接与数据接续</a:t>
            </a:r>
          </a:p>
        </p:txBody>
      </p:sp>
      <p:sp>
        <p:nvSpPr>
          <p:cNvPr id="21" name="planned-detail-3">
            <a:extLst xmlns:a="http://schemas.openxmlformats.org/drawingml/2006/main">
              <a:ext uri="{FF2B5EF4-FFF2-40B4-BE49-F238E27FC236}">
                <a16:creationId xmlns:a16="http://schemas.microsoft.com/office/drawing/2014/main" id="{EB9E92B4-C115-48B7-AE63-0AD4E2BB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05500"/>
            <a:ext cx="678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通通游/美游、12301及三方合同、致远、NC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供应商功能完善、历史数据接续及备份恢复</a:t>
            </a:r>
          </a:p>
        </p:txBody>
      </p:sp>
      <p:sp>
        <p:nvSpPr>
          <p:cNvPr id="22" name="remaining-title">
            <a:extLst xmlns:a="http://schemas.openxmlformats.org/drawingml/2006/main">
              <a:ext uri="{FF2B5EF4-FFF2-40B4-BE49-F238E27FC236}">
                <a16:creationId xmlns:a16="http://schemas.microsoft.com/office/drawing/2014/main" id="{E636A49C-E9A1-4B50-AF33-92D3E0F6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81800"/>
            <a:ext cx="1402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D5B1C"/>
                </a:solidFill>
                <a:latin typeface="PingFang SC"/>
                <a:ea typeface="PingFang SC"/>
                <a:cs typeface="PingFang SC"/>
              </a:rPr>
              <a:t>一期待收尾 24项</a:t>
            </a:r>
          </a:p>
        </p:txBody>
      </p:sp>
      <p:sp>
        <p:nvSpPr>
          <p:cNvPr id="23" name="remaining-details">
            <a:extLst xmlns:a="http://schemas.openxmlformats.org/drawingml/2006/main">
              <a:ext uri="{FF2B5EF4-FFF2-40B4-BE49-F238E27FC236}">
                <a16:creationId xmlns:a16="http://schemas.microsoft.com/office/drawing/2014/main" id="{AA63E82A-7431-441E-8E85-5CFC773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913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合同与签证、通通游同步及验收、致远对接、预收/预存/付款/预付/结算、报表及NC、电销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0"/>
                </a:solidFill>
                <a:latin typeface="PingFang SC"/>
                <a:ea typeface="PingFang SC"/>
                <a:cs typeface="PingFang SC"/>
              </a:rPr>
              <a:t>其中会员与营销5项已注明二期开发</a:t>
            </a:r>
          </a:p>
        </p:txBody>
      </p:sp>
      <p:sp>
        <p:nvSpPr>
          <p:cNvPr id="2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580B168-F8FB-4E3E-88A8-E8C913AD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87"/>
                </a:solidFill>
                <a:latin typeface="PingFang SC"/>
                <a:ea typeface="PingFang SC"/>
                <a:cs typeface="PingFang SC"/>
              </a:rPr>
              <a:t>来源：开发进度表 (3).xlsx（6张子表）。按“进度=100%”统计完成项，联调及验收栏为空。</a:t>
            </a:r>
          </a:p>
        </p:txBody>
      </p:sp>
    </p:spTree>
    <p:extLst>
      <p:ext uri="{BB962C8B-B14F-4D97-AF65-F5344CB8AC3E}">
        <p14:creationId xmlns:p14="http://schemas.microsoft.com/office/powerpoint/2010/main" val="780993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2026-10-18T13:26:24.6950000Z</dcterms:created>
  <dcterms:modified xsi:type="dcterms:W3CDTF">2026-10-18T13:26:24.6950000Z</dcterms:modified>
</coreProperties>
</file>